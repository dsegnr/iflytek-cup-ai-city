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media/image11.jpg" ContentType="image/png"/>
  <Override PartName="/ppt/media/image12.jpg" ContentType="image/png"/>
  <Override PartName="/ppt/media/image13.jpg" ContentType="image/png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4"/>
  </p:notesMasterIdLst>
  <p:sldIdLst>
    <p:sldId id="256" r:id="rId2"/>
    <p:sldId id="263" r:id="rId3"/>
    <p:sldId id="257" r:id="rId4"/>
    <p:sldId id="258" r:id="rId5"/>
    <p:sldId id="259" r:id="rId6"/>
    <p:sldId id="260" r:id="rId7"/>
    <p:sldId id="265" r:id="rId8"/>
    <p:sldId id="261" r:id="rId9"/>
    <p:sldId id="266" r:id="rId10"/>
    <p:sldId id="267" r:id="rId11"/>
    <p:sldId id="262" r:id="rId12"/>
    <p:sldId id="26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4:18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7997B-17E5-4082-8954-0719A50CBB9A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BA2A2-1E7A-4920-93CE-0D82EE3AC5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46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BA2A2-1E7A-4920-93CE-0D82EE3AC5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98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0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37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1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2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3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5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2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9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4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734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all" spc="15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77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2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5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14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35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14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5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14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35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4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35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3" descr="抽象遗传概念">
            <a:extLst>
              <a:ext uri="{FF2B5EF4-FFF2-40B4-BE49-F238E27FC236}">
                <a16:creationId xmlns:a16="http://schemas.microsoft.com/office/drawing/2014/main" id="{06197C51-3236-ADD6-8C4A-32C2FB1D10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27671" b="1608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21945F6-CFE5-AC45-7FC7-FE322B3C82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ctr"/>
            <a:r>
              <a:rPr lang="en-US" altLang="zh-CN" dirty="0">
                <a:solidFill>
                  <a:srgbClr val="FFFFFF"/>
                </a:solidFill>
              </a:rPr>
              <a:t>AI+</a:t>
            </a:r>
            <a:r>
              <a:rPr lang="zh-CN" altLang="en-US" dirty="0">
                <a:solidFill>
                  <a:srgbClr val="FFFFFF"/>
                </a:solidFill>
              </a:rPr>
              <a:t>城市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DA9EE7-57A0-80FB-F29F-4C7B5990AD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822252" y="2616077"/>
            <a:ext cx="10594986" cy="812923"/>
          </a:xfrm>
        </p:spPr>
        <p:txBody>
          <a:bodyPr anchor="t">
            <a:noAutofit/>
          </a:bodyPr>
          <a:lstStyle/>
          <a:p>
            <a:pPr algn="ctr"/>
            <a:r>
              <a:rPr lang="zh-CN" altLang="en-US" sz="5400" dirty="0">
                <a:solidFill>
                  <a:srgbClr val="FFFFFF"/>
                </a:solidFill>
              </a:rPr>
              <a:t>利用</a:t>
            </a:r>
            <a:r>
              <a:rPr lang="en-US" altLang="zh-CN" sz="5400" dirty="0">
                <a:solidFill>
                  <a:srgbClr val="FFFFFF"/>
                </a:solidFill>
              </a:rPr>
              <a:t>AI</a:t>
            </a:r>
            <a:r>
              <a:rPr lang="zh-CN" altLang="en-US" sz="5400" dirty="0">
                <a:solidFill>
                  <a:srgbClr val="FFFFFF"/>
                </a:solidFill>
              </a:rPr>
              <a:t>改善城市拥堵策划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43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城市里有灯光&#10;&#10;AI 生成的内容可能不正确。">
            <a:extLst>
              <a:ext uri="{FF2B5EF4-FFF2-40B4-BE49-F238E27FC236}">
                <a16:creationId xmlns:a16="http://schemas.microsoft.com/office/drawing/2014/main" id="{51F1B55D-7EA0-4558-C40F-9CDC2A5B19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7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  <a:effectLst>
            <a:glow rad="127000">
              <a:schemeClr val="accent2"/>
            </a:glo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396585-29E9-721E-F124-0708B90729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87400" y="2470150"/>
            <a:ext cx="2190750" cy="13142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chemeClr val="bg2"/>
                </a:solidFill>
              </a:rPr>
              <a:t>目录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B9DC039-6DD0-9E1F-5C4B-A629C8C9E782}"/>
                  </a:ext>
                </a:extLst>
              </p14:cNvPr>
              <p14:cNvContentPartPr/>
              <p14:nvPr/>
            </p14:nvContentPartPr>
            <p14:xfrm>
              <a:off x="4330480" y="2558770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B9DC039-6DD0-9E1F-5C4B-A629C8C9E7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4360" y="255265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左大括号 9">
            <a:extLst>
              <a:ext uri="{FF2B5EF4-FFF2-40B4-BE49-F238E27FC236}">
                <a16:creationId xmlns:a16="http://schemas.microsoft.com/office/drawing/2014/main" id="{7EC88543-411B-D832-2A3D-B977632A52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11795" y="588335"/>
            <a:ext cx="860102" cy="5429693"/>
          </a:xfrm>
          <a:prstGeom prst="leftBrace">
            <a:avLst>
              <a:gd name="adj1" fmla="val 84977"/>
              <a:gd name="adj2" fmla="val 50000"/>
            </a:avLst>
          </a:prstGeom>
          <a:ln>
            <a:solidFill>
              <a:schemeClr val="bg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FE125E-D060-D3CF-F1F2-F3E0346C39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30480" y="341879"/>
            <a:ext cx="503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研究背景与目的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045DD9-EC7F-32A2-E4ED-04F30D36AF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30480" y="1873806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项目规划与方案设计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670BFD-52C1-CC99-7E19-C89E210023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30479" y="3482100"/>
            <a:ext cx="503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研究预期与成果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195F5C-1812-AF03-15A0-BE5CEC504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30479" y="5170044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经验总结</a:t>
            </a:r>
          </a:p>
        </p:txBody>
      </p:sp>
    </p:spTree>
    <p:extLst>
      <p:ext uri="{BB962C8B-B14F-4D97-AF65-F5344CB8AC3E}">
        <p14:creationId xmlns:p14="http://schemas.microsoft.com/office/powerpoint/2010/main" val="242761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3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3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3" name="图片 2" descr="灯光下有亮着的交通信号灯&#10;&#10;AI 生成的内容可能不正确。">
            <a:extLst>
              <a:ext uri="{FF2B5EF4-FFF2-40B4-BE49-F238E27FC236}">
                <a16:creationId xmlns:a16="http://schemas.microsoft.com/office/drawing/2014/main" id="{3590B9FB-E64B-1EE7-342E-3708597125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0" b="9090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47" name="Rectangle 41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C16177-086D-1CE0-1FA3-9F99AB04AFFE}"/>
              </a:ext>
            </a:extLst>
          </p:cNvPr>
          <p:cNvSpPr/>
          <p:nvPr/>
        </p:nvSpPr>
        <p:spPr>
          <a:xfrm>
            <a:off x="457195" y="701964"/>
            <a:ext cx="5370950" cy="3640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  <a:ea typeface="+mj-ea"/>
                <a:cs typeface="+mj-cs"/>
              </a:rPr>
              <a:t>研究目的：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E3C256-6F60-10B6-569D-67F415932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9740" y="3147841"/>
            <a:ext cx="10900304" cy="9692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zh-CN" altLang="en-US" sz="2800" b="1" cap="all" spc="300" dirty="0">
                <a:solidFill>
                  <a:srgbClr val="FFFFFF"/>
                </a:solidFill>
              </a:rPr>
              <a:t>     结合人工智能先进技术，致力于解决当前社会城市交通拥堵问题，让</a:t>
            </a:r>
            <a:r>
              <a:rPr lang="en-US" altLang="zh-CN" sz="2800" b="1" cap="all" spc="300" dirty="0">
                <a:solidFill>
                  <a:srgbClr val="FFFFFF"/>
                </a:solidFill>
              </a:rPr>
              <a:t>AI</a:t>
            </a:r>
            <a:r>
              <a:rPr lang="zh-CN" altLang="en-US" sz="2800" b="1" cap="all" spc="300" dirty="0">
                <a:solidFill>
                  <a:srgbClr val="FFFFFF"/>
                </a:solidFill>
              </a:rPr>
              <a:t>更好的解决城市痛点问题，，提高城市交通通行效率，改善人民生活。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133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公路上有许多车&#10;&#10;AI 生成的内容可能不正确。">
            <a:extLst>
              <a:ext uri="{FF2B5EF4-FFF2-40B4-BE49-F238E27FC236}">
                <a16:creationId xmlns:a16="http://schemas.microsoft.com/office/drawing/2014/main" id="{46DB582C-D0C8-3D56-7FD2-2F433F212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223" y="1426118"/>
            <a:ext cx="7354326" cy="468695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 descr="公路上有许多车在路上行驶&#10;&#10;AI 生成的内容可能不正确。">
            <a:extLst>
              <a:ext uri="{FF2B5EF4-FFF2-40B4-BE49-F238E27FC236}">
                <a16:creationId xmlns:a16="http://schemas.microsoft.com/office/drawing/2014/main" id="{90852A62-0324-2CC2-D8F7-EDD71D10D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6298"/>
          <a:stretch>
            <a:fillRect/>
          </a:stretch>
        </p:blipFill>
        <p:spPr>
          <a:xfrm>
            <a:off x="-1" y="3429000"/>
            <a:ext cx="5303520" cy="3429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E03C073-671D-7F97-CDF3-D61483FD942D}"/>
              </a:ext>
            </a:extLst>
          </p:cNvPr>
          <p:cNvSpPr txBox="1">
            <a:spLocks/>
          </p:cNvSpPr>
          <p:nvPr/>
        </p:nvSpPr>
        <p:spPr>
          <a:xfrm>
            <a:off x="6106656" y="2633236"/>
            <a:ext cx="5424353" cy="3664681"/>
          </a:xfrm>
          <a:custGeom>
            <a:avLst/>
            <a:gdLst>
              <a:gd name="connsiteX0" fmla="*/ 0 w 7690882"/>
              <a:gd name="connsiteY0" fmla="*/ 0 h 4931606"/>
              <a:gd name="connsiteX1" fmla="*/ 7690882 w 7690882"/>
              <a:gd name="connsiteY1" fmla="*/ 0 h 4931606"/>
              <a:gd name="connsiteX2" fmla="*/ 7690882 w 7690882"/>
              <a:gd name="connsiteY2" fmla="*/ 4931606 h 4931606"/>
              <a:gd name="connsiteX3" fmla="*/ 0 w 7690882"/>
              <a:gd name="connsiteY3" fmla="*/ 4931606 h 4931606"/>
              <a:gd name="connsiteX4" fmla="*/ 0 w 7690882"/>
              <a:gd name="connsiteY4" fmla="*/ 0 h 4931606"/>
              <a:gd name="connsiteX0" fmla="*/ 0 w 7690882"/>
              <a:gd name="connsiteY0" fmla="*/ 0 h 4931606"/>
              <a:gd name="connsiteX1" fmla="*/ 7690882 w 7690882"/>
              <a:gd name="connsiteY1" fmla="*/ 0 h 4931606"/>
              <a:gd name="connsiteX2" fmla="*/ 7690882 w 7690882"/>
              <a:gd name="connsiteY2" fmla="*/ 4931606 h 4931606"/>
              <a:gd name="connsiteX3" fmla="*/ 0 w 7690882"/>
              <a:gd name="connsiteY3" fmla="*/ 4931606 h 4931606"/>
              <a:gd name="connsiteX4" fmla="*/ 0 w 7690882"/>
              <a:gd name="connsiteY4" fmla="*/ 0 h 493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0882" h="4931606">
                <a:moveTo>
                  <a:pt x="0" y="0"/>
                </a:moveTo>
                <a:lnTo>
                  <a:pt x="7690882" y="0"/>
                </a:lnTo>
                <a:lnTo>
                  <a:pt x="7690882" y="4931606"/>
                </a:lnTo>
                <a:lnTo>
                  <a:pt x="0" y="4931606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altLang="zh-CN" sz="1700"/>
              <a:t> </a:t>
            </a:r>
            <a:r>
              <a:rPr lang="zh-CN" altLang="en-US" sz="1700"/>
              <a:t>随着城市化进程日益加快，城市人口、汽车数量</a:t>
            </a:r>
            <a:endParaRPr lang="en-US" altLang="zh-CN" sz="1700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攀升，大多数城市都面临交通拥堵的困扰，导致车辆</a:t>
            </a:r>
            <a:endParaRPr lang="en-US" altLang="zh-CN" sz="1700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出行缓慢，时间损失严重。拥堵情况多出现在路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口、岔路位置，为避免该现象和交通事故的发生，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路口信号灯是必不可少的工具。制订交通信号灯的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变化规则可有效转移交通流，疏导路口车流量，监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督行人、机动车等的行为，提高道路通行能力。根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据车流量智能、远程地控制信号灯变化，可避免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zh-CN" altLang="en-US" sz="1700"/>
              <a:t>人力操作的资源浪费以及分配不均匀等问题发生。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BA5135-82F0-4AE8-EFF9-14856470CE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06657" y="1371600"/>
            <a:ext cx="5424353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zh-CN" altLang="en-US" sz="4000" b="1" dirty="0">
                <a:ln w="22225">
                  <a:solidFill>
                    <a:schemeClr val="accent2"/>
                  </a:solidFill>
                  <a:prstDash val="solid"/>
                </a:ln>
                <a:latin typeface="+mj-lt"/>
                <a:ea typeface="+mj-ea"/>
                <a:cs typeface="+mj-cs"/>
              </a:rPr>
              <a:t>研究背景：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E7EEB3-E0AF-AC44-FCD2-92798741DB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" r="715"/>
          <a:stretch/>
        </p:blipFill>
        <p:spPr>
          <a:xfrm>
            <a:off x="-1" y="1"/>
            <a:ext cx="5303520" cy="3429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90741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4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A381D8-5186-F748-3030-60AADFABB6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15EE9C1-BF0C-91D1-2444-572227544C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77322" y="344637"/>
            <a:ext cx="43396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项目规划设计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759539EF-7C40-951F-6141-0065335A14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86" y="1416448"/>
            <a:ext cx="3903542" cy="520472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96DAE83-2C8F-8BEC-960C-2E780F05A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4209" y="1416437"/>
            <a:ext cx="2397968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初期思路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3F098B-1D6A-B74F-2528-4A2D216D78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51694" y="1416437"/>
            <a:ext cx="485261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28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借助百度地图的</a:t>
            </a:r>
            <a:r>
              <a:rPr lang="en-US" altLang="zh-CN" sz="28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r>
              <a:rPr lang="zh-CN" altLang="en-US" sz="28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endParaRPr lang="en-US" altLang="zh-CN" sz="280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28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将某个时间段的拥堵图拿来。</a:t>
            </a:r>
            <a:endParaRPr lang="zh-CN" altLang="en-US" sz="28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872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图片包含 电脑, 键盘, 室内, 电子&#10;&#10;AI 生成的内容可能不正确。">
            <a:extLst>
              <a:ext uri="{FF2B5EF4-FFF2-40B4-BE49-F238E27FC236}">
                <a16:creationId xmlns:a16="http://schemas.microsoft.com/office/drawing/2014/main" id="{44F4C4A0-5927-26CA-AA0D-4DF253C425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9CF343C-4ED3-5F71-D374-F06A71F26F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2"/>
            <a:ext cx="12192000" cy="685801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0C6C78-1280-60AF-C601-502AA31417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5794" y="2119423"/>
            <a:ext cx="10288773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、数据层   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来自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接口 实时获取路口交通数据</a:t>
            </a:r>
          </a:p>
          <a:p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、拥堵估计层 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使用随机森林算法模型   预测</a:t>
            </a:r>
          </a:p>
          <a:p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、控制触发层  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设定 拥堵概率阙值</a:t>
            </a:r>
          </a:p>
          <a:p>
            <a:pPr algn="dist"/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、协同控制层  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基于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Q-learning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强化学习算法，扩展多路口状态空间将“目标路口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 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下游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个路口” 的排队状态作为整体状态，动态调整各路口红绿灯时长，实现“一通多通”。</a:t>
            </a:r>
          </a:p>
          <a:p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动态时间窗口期 </a:t>
            </a:r>
            <a:r>
              <a:rPr lang="en-US" altLang="zh-CN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sz="2800" dirty="0">
                <a:ln w="0"/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实时输出（同时日志记录）数据修正反馈，进行红绿灯时间调控的输出。</a:t>
            </a:r>
            <a:endParaRPr lang="zh-CN" altLang="en-US" sz="2800" b="0" cap="none" spc="0" dirty="0">
              <a:ln w="0"/>
              <a:solidFill>
                <a:schemeClr val="accent5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853298-05F4-6358-A19B-858E8A5577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46607" y="920287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bg2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模型的搭建</a:t>
            </a:r>
          </a:p>
        </p:txBody>
      </p:sp>
    </p:spTree>
    <p:extLst>
      <p:ext uri="{BB962C8B-B14F-4D97-AF65-F5344CB8AC3E}">
        <p14:creationId xmlns:p14="http://schemas.microsoft.com/office/powerpoint/2010/main" val="19621302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AI 生成的内容可能不正确。">
            <a:extLst>
              <a:ext uri="{FF2B5EF4-FFF2-40B4-BE49-F238E27FC236}">
                <a16:creationId xmlns:a16="http://schemas.microsoft.com/office/drawing/2014/main" id="{9FFAFA25-ADB8-25B7-B426-542EF91C8D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D161FC7-1DE9-33E5-476D-8CA0E6D672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0354" y="472227"/>
            <a:ext cx="1061813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依据上述思路，根据预计采用的模型，先使用一些假数据进行测试，验证模型</a:t>
            </a:r>
            <a:r>
              <a:rPr lang="zh-CN" alt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的可用性与方案可行性。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0DB93CF-EDC5-EFAE-9384-9296F04643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65" y="1549445"/>
            <a:ext cx="11209564" cy="1440467"/>
          </a:xfrm>
          <a:prstGeom prst="rect">
            <a:avLst/>
          </a:prstGeom>
        </p:spPr>
      </p:pic>
      <p:pic>
        <p:nvPicPr>
          <p:cNvPr id="16" name="图片 15" descr="文本&#10;&#10;AI 生成的内容可能不正确。">
            <a:extLst>
              <a:ext uri="{FF2B5EF4-FFF2-40B4-BE49-F238E27FC236}">
                <a16:creationId xmlns:a16="http://schemas.microsoft.com/office/drawing/2014/main" id="{A3D632CA-FCBA-1154-C735-B48B498E36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75" y="3028682"/>
            <a:ext cx="5713472" cy="1895273"/>
          </a:xfrm>
          <a:prstGeom prst="rect">
            <a:avLst/>
          </a:prstGeom>
        </p:spPr>
      </p:pic>
      <p:pic>
        <p:nvPicPr>
          <p:cNvPr id="18" name="图片 17" descr="文本&#10;&#10;AI 生成的内容可能不正确。">
            <a:extLst>
              <a:ext uri="{FF2B5EF4-FFF2-40B4-BE49-F238E27FC236}">
                <a16:creationId xmlns:a16="http://schemas.microsoft.com/office/drawing/2014/main" id="{28CBBE54-E17F-7FEB-B90C-C38E15B2BD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75" y="4989269"/>
            <a:ext cx="10213521" cy="1803416"/>
          </a:xfrm>
          <a:prstGeom prst="rect">
            <a:avLst/>
          </a:prstGeom>
        </p:spPr>
      </p:pic>
      <p:pic>
        <p:nvPicPr>
          <p:cNvPr id="20" name="图片 19" descr="文本&#10;&#10;AI 生成的内容可能不正确。">
            <a:extLst>
              <a:ext uri="{FF2B5EF4-FFF2-40B4-BE49-F238E27FC236}">
                <a16:creationId xmlns:a16="http://schemas.microsoft.com/office/drawing/2014/main" id="{E4804286-3D41-0D27-6883-6C4A90D0C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2958272"/>
            <a:ext cx="8409214" cy="20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33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电脑键盘&#10;&#10;AI 生成的内容可能不正确。">
            <a:extLst>
              <a:ext uri="{FF2B5EF4-FFF2-40B4-BE49-F238E27FC236}">
                <a16:creationId xmlns:a16="http://schemas.microsoft.com/office/drawing/2014/main" id="{1FF8F893-7A97-8ACC-18C2-A6D054A230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4C0A50BE-6535-F2DA-BF3E-54D4489E34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354" y="660400"/>
            <a:ext cx="4705139" cy="5651500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FC1F1B6B-9468-AEDE-345A-EEA0E26E6A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967" y="660400"/>
            <a:ext cx="4040559" cy="5651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B169F3D-86ED-7BA4-40E7-F57F490674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1013" y="1917695"/>
            <a:ext cx="923330" cy="3022600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vert="eaVert"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最终成品</a:t>
            </a:r>
          </a:p>
        </p:txBody>
      </p:sp>
    </p:spTree>
    <p:extLst>
      <p:ext uri="{BB962C8B-B14F-4D97-AF65-F5344CB8AC3E}">
        <p14:creationId xmlns:p14="http://schemas.microsoft.com/office/powerpoint/2010/main" val="374986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背景图案&#10;&#10;AI 生成的内容可能不正确。">
            <a:extLst>
              <a:ext uri="{FF2B5EF4-FFF2-40B4-BE49-F238E27FC236}">
                <a16:creationId xmlns:a16="http://schemas.microsoft.com/office/drawing/2014/main" id="{B42A842A-17A0-06DC-491A-7582159C47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5" b="1796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08D5ABBC-AFE7-DC65-A99B-BBE24B4F47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47" y="197494"/>
            <a:ext cx="7049003" cy="642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电子设备的屏幕&#10;&#10;AI 生成的内容可能不正确。">
            <a:extLst>
              <a:ext uri="{FF2B5EF4-FFF2-40B4-BE49-F238E27FC236}">
                <a16:creationId xmlns:a16="http://schemas.microsoft.com/office/drawing/2014/main" id="{C0E54B45-9A41-5C8D-5CA3-5B750E2090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9" b="6888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29E3F795-8373-445E-8528-86D183D2FF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877" y="431800"/>
            <a:ext cx="7312123" cy="5664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C294816-0C94-D8DE-A0F2-5E9F70B77B0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7350" y="914400"/>
            <a:ext cx="3873500" cy="581057"/>
          </a:xfrm>
          <a:prstGeom prst="rect">
            <a:avLst/>
          </a:prstGeom>
          <a:solidFill>
            <a:schemeClr val="bg2">
              <a:alpha val="50000"/>
            </a:schemeClr>
          </a:solidFill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根据北京市道路进行模拟</a:t>
            </a:r>
          </a:p>
        </p:txBody>
      </p:sp>
    </p:spTree>
    <p:extLst>
      <p:ext uri="{BB962C8B-B14F-4D97-AF65-F5344CB8AC3E}">
        <p14:creationId xmlns:p14="http://schemas.microsoft.com/office/powerpoint/2010/main" val="86150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图片包含 电子, 电路, 游戏机, 大&#10;&#10;AI 生成的内容可能不正确。">
            <a:extLst>
              <a:ext uri="{FF2B5EF4-FFF2-40B4-BE49-F238E27FC236}">
                <a16:creationId xmlns:a16="http://schemas.microsoft.com/office/drawing/2014/main" id="{C8D28F6C-8A44-1258-4387-E24F985276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1" b="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EEB053F-90F3-A8B5-80A0-53398D82D1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1485" y="422609"/>
            <a:ext cx="57246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经验总结与收获：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9F86E7-F4F7-9603-9D15-53B767D5412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779038476"/>
              </p:ext>
            </p:extLst>
          </p:nvPr>
        </p:nvGraphicFramePr>
        <p:xfrm>
          <a:off x="1082156" y="2023925"/>
          <a:ext cx="9805584" cy="3710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2792">
                  <a:extLst>
                    <a:ext uri="{9D8B030D-6E8A-4147-A177-3AD203B41FA5}">
                      <a16:colId xmlns:a16="http://schemas.microsoft.com/office/drawing/2014/main" val="1792514112"/>
                    </a:ext>
                  </a:extLst>
                </a:gridCol>
                <a:gridCol w="4902792">
                  <a:extLst>
                    <a:ext uri="{9D8B030D-6E8A-4147-A177-3AD203B41FA5}">
                      <a16:colId xmlns:a16="http://schemas.microsoft.com/office/drawing/2014/main" val="2266976740"/>
                    </a:ext>
                  </a:extLst>
                </a:gridCol>
              </a:tblGrid>
              <a:tr h="618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tx2"/>
                          </a:solidFill>
                        </a:rPr>
                        <a:t>研究过程中遇到的问题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tx1"/>
                          </a:solidFill>
                        </a:rPr>
                        <a:t>反思与改进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063863"/>
                  </a:ext>
                </a:extLst>
              </a:tr>
              <a:tr h="61842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19050"/>
                  </a:ext>
                </a:extLst>
              </a:tr>
              <a:tr h="61842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59651"/>
                  </a:ext>
                </a:extLst>
              </a:tr>
              <a:tr h="61842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390159"/>
                  </a:ext>
                </a:extLst>
              </a:tr>
              <a:tr h="61842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845266"/>
                  </a:ext>
                </a:extLst>
              </a:tr>
              <a:tr h="61842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74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438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背景图案&#10;&#10;AI 生成的内容可能不正确。">
            <a:extLst>
              <a:ext uri="{FF2B5EF4-FFF2-40B4-BE49-F238E27FC236}">
                <a16:creationId xmlns:a16="http://schemas.microsoft.com/office/drawing/2014/main" id="{E64ABE12-E7BE-87C3-B39A-847452D812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 b="4819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216F27-2F42-ACFB-75FE-A300DB107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9220" y="2505665"/>
            <a:ext cx="1060420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恳请各位老师批评指教不足</a:t>
            </a:r>
            <a:r>
              <a:rPr lang="en-US" altLang="zh-CN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9BDD09-FA88-3F11-AF4F-F5421D9FE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9220" y="5448460"/>
            <a:ext cx="1144508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策划成员：王佳豪、刘若岩、王昊熙、张硕、于鑫淼</a:t>
            </a: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01388A-D921-0E87-A50E-F277AF3DE521}"/>
              </a:ext>
            </a:extLst>
          </p:cNvPr>
          <p:cNvSpPr/>
          <p:nvPr/>
        </p:nvSpPr>
        <p:spPr>
          <a:xfrm>
            <a:off x="5532367" y="1134139"/>
            <a:ext cx="857910" cy="9773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zh-CN" alt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DF891C-C4DE-0CDE-C3CF-F740AC168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57826" y="843671"/>
            <a:ext cx="441659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谢谢观看！</a:t>
            </a:r>
            <a:endParaRPr lang="zh-CN" alt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638169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1">
            <a:alpha val="50000"/>
          </a:schemeClr>
        </a:solidFill>
      </a:spPr>
      <a:bodyPr wrap="square" rtlCol="0">
        <a:spAutoFit/>
      </a:bodyPr>
      <a:lstStyle>
        <a:defPPr algn="ctr">
          <a:lnSpc>
            <a:spcPct val="150000"/>
          </a:lnSpc>
          <a:defRPr sz="32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382</Words>
  <Application>Microsoft Office PowerPoint</Application>
  <PresentationFormat>宽屏</PresentationFormat>
  <Paragraphs>39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Microsoft YaHei</vt:lpstr>
      <vt:lpstr>Arial</vt:lpstr>
      <vt:lpstr>Grandview Display</vt:lpstr>
      <vt:lpstr>Neue Haas Grotesk Text Pro</vt:lpstr>
      <vt:lpstr>DashVTI</vt:lpstr>
      <vt:lpstr>AI+城市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13</cp:revision>
  <dcterms:created xsi:type="dcterms:W3CDTF">2025-11-05T11:49:00Z</dcterms:created>
  <dcterms:modified xsi:type="dcterms:W3CDTF">2025-11-09T05:04:49Z</dcterms:modified>
</cp:coreProperties>
</file>